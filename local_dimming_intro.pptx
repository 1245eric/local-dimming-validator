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90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09728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89B4FA"/>
                </a:solidFill>
              </a:rPr>
              <a:t>Local Dimming </a:t>
            </a:r>
            <a:r>
              <a:rPr sz="4000" b="1" dirty="0" smtClean="0">
                <a:solidFill>
                  <a:srgbClr val="89B4FA"/>
                </a:solidFill>
              </a:rPr>
              <a:t> </a:t>
            </a:r>
            <a:r>
              <a:rPr sz="4000" b="1" dirty="0">
                <a:solidFill>
                  <a:srgbClr val="89B4FA"/>
                </a:solidFill>
              </a:rPr>
              <a:t>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AC2D8"/>
                </a:solidFill>
              </a:rPr>
              <a:t>顯示器局部背光控制驗證工具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AC2D8"/>
                </a:solidFill>
              </a:rPr>
              <a:t>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1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問題定義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C2D8"/>
                </a:solidFill>
              </a:rPr>
              <a:t>為什麼需要這個工具？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474720" cy="2286000"/>
          </a:xfrm>
          <a:prstGeom prst="rect">
            <a:avLst/>
          </a:prstGeom>
          <a:solidFill>
            <a:srgbClr val="313552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8BA8"/>
                </a:solidFill>
              </a:rPr>
              <a:t>漏亮 (Missing Light)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模擬應亮，硬體未亮 → 畫面偏暗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474720" cy="2286000"/>
          </a:xfrm>
          <a:prstGeom prst="rect">
            <a:avLst/>
          </a:prstGeom>
          <a:solidFill>
            <a:srgbClr val="313552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多亮 (Extra Light)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94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模擬應滅，硬體多亮 → 對比度下降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463040"/>
            <a:ext cx="3474720" cy="2286000"/>
          </a:xfrm>
          <a:prstGeom prst="rect">
            <a:avLst/>
          </a:prstGeom>
          <a:solidFill>
            <a:srgbClr val="313552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Block 誤差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40×80 Grid 中每格亮度值不一致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 err="1">
                <a:solidFill>
                  <a:srgbClr val="A6E3A1"/>
                </a:solidFill>
              </a:rPr>
              <a:t>本工具自動比對所有測試組，輸出視覺化差異圖與統計報告</a:t>
            </a:r>
            <a:endParaRPr sz="1800" b="1" dirty="0">
              <a:solidFill>
                <a:srgbClr val="A6E3A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1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C2D8"/>
                </a:solidFill>
              </a:rPr>
              <a:t>目錄結構與主要元件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234440"/>
            <a:ext cx="27432" cy="5303520"/>
          </a:xfrm>
          <a:prstGeom prst="rect">
            <a:avLst/>
          </a:prstGeom>
          <a:solidFill>
            <a:srgbClr val="BAC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E3A1"/>
                </a:solidFill>
              </a:rPr>
              <a:t>程式元件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local_dimming_align.py　主程式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visualize_diff.py　獨立視覺化腳本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</a:rPr>
              <a:t>• zone.txt　30 個 LED Zone </a:t>
            </a:r>
            <a:r>
              <a:rPr sz="1600" b="0" dirty="0" err="1">
                <a:solidFill>
                  <a:srgbClr val="FFFFFF"/>
                </a:solidFill>
              </a:rPr>
              <a:t>座標定義</a:t>
            </a:r>
            <a:endParaRPr sz="1600" b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37947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build.bat + .spec　PyInstaller 打包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805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local_dimming_validator.exe　發佈執行檔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E3A1"/>
                </a:solidFill>
              </a:rPr>
              <a:t>資料目錄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input/　灰階輸入影像 (1280×640)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231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dump/　硬體 Dump txt 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089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LED/　LED 亮滅 log 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947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</a:rPr>
              <a:t>• compare/　</a:t>
            </a:r>
            <a:r>
              <a:rPr sz="1600" b="0" dirty="0" err="1">
                <a:solidFill>
                  <a:srgbClr val="FFFFFF"/>
                </a:solidFill>
              </a:rPr>
              <a:t>比對結果影像</a:t>
            </a:r>
            <a:endParaRPr sz="1600" b="0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0" y="44805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</a:rPr>
              <a:t>• </a:t>
            </a:r>
            <a:r>
              <a:rPr sz="1600" b="0" dirty="0" err="1">
                <a:solidFill>
                  <a:srgbClr val="FFFFFF"/>
                </a:solidFill>
              </a:rPr>
              <a:t>sim_output</a:t>
            </a:r>
            <a:r>
              <a:rPr sz="1600" b="0" dirty="0">
                <a:solidFill>
                  <a:srgbClr val="FFFFFF"/>
                </a:solidFill>
              </a:rPr>
              <a:t>/　</a:t>
            </a:r>
            <a:r>
              <a:rPr sz="1600" b="0" dirty="0" err="1">
                <a:solidFill>
                  <a:srgbClr val="FFFFFF"/>
                </a:solidFill>
              </a:rPr>
              <a:t>模擬輸出影像</a:t>
            </a:r>
            <a:endParaRPr sz="1600" b="0" dirty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792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logs/　執行日誌（UTC+8 時戳）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1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核心流程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C2D8"/>
                </a:solidFill>
              </a:rPr>
              <a:t>三個主要處理步驟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383280" cy="2926080"/>
          </a:xfrm>
          <a:prstGeom prst="rect">
            <a:avLst/>
          </a:prstGeom>
          <a:solidFill>
            <a:srgbClr val="282C42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9B4F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9B4FA"/>
                </a:solidFill>
              </a:rPr>
              <a:t>Max-Pooling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1280×640 影像 → 40×80 Grid
每格 16×16 像素取最大值
模擬 LED 亮度分布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371600"/>
            <a:ext cx="3383280" cy="2926080"/>
          </a:xfrm>
          <a:prstGeom prst="rect">
            <a:avLst/>
          </a:prstGeom>
          <a:solidFill>
            <a:srgbClr val="282C42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6E3A1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6E3A1"/>
                </a:solidFill>
              </a:rPr>
              <a:t>Block 比對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逐格比較 Dump 與模擬結果
統計差異格數 (block_diffs)
輸出 diff 視覺化圖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371600"/>
            <a:ext cx="3383280" cy="2926080"/>
          </a:xfrm>
          <a:prstGeom prst="rect">
            <a:avLst/>
          </a:prstGeom>
          <a:solidFill>
            <a:srgbClr val="282C42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4630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9E2A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E2AF"/>
                </a:solidFill>
              </a:rPr>
              <a:t>Zone 比對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060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依 zone.txt 座標聚合亮度
判定漏亮 / 多亮
輸出 Zone 層級報告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AC2D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AC2D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AC2D8"/>
                </a:solidFill>
              </a:rPr>
              <a:t>輸入影像 → 模擬 → 與硬體 Dump 比對 → 彙總統計報告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1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輸入格式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C2D8"/>
                </a:solidFill>
              </a:rPr>
              <a:t>影像、Dump 檔、Zone 定義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291840" cy="1972491"/>
          </a:xfrm>
          <a:prstGeom prst="rect">
            <a:avLst/>
          </a:prstGeom>
          <a:solidFill>
            <a:srgbClr val="282C42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影像規格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路徑：input/input_{N}.png
尺寸：1280 × 640 px
チャンネル：灰階單通道
→ 不符尺寸自動跳過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280160"/>
            <a:ext cx="3931920" cy="2011680"/>
          </a:xfrm>
          <a:prstGeom prst="rect">
            <a:avLst/>
          </a:prstGeom>
          <a:solidFill>
            <a:srgbClr val="282C42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690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E3A1"/>
                </a:solidFill>
              </a:rPr>
              <a:t>Dump 格式（兩種）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FFFFFF"/>
                </a:solidFill>
              </a:rPr>
              <a:t>新格式（Tab</a:t>
            </a:r>
            <a:r>
              <a:rPr sz="1300" b="0" dirty="0">
                <a:solidFill>
                  <a:srgbClr val="FFFFFF"/>
                </a:solidFill>
              </a:rPr>
              <a:t> </a:t>
            </a:r>
            <a:r>
              <a:rPr sz="1300" b="0" dirty="0" err="1">
                <a:solidFill>
                  <a:srgbClr val="FFFFFF"/>
                </a:solidFill>
              </a:rPr>
              <a:t>分隔</a:t>
            </a:r>
            <a:r>
              <a:rPr sz="1300" b="0" dirty="0">
                <a:solidFill>
                  <a:srgbClr val="FFFFFF"/>
                </a:solidFill>
              </a:rPr>
              <a:t>）：
[0]  0  0x2000'8f1c  UCHAR
</a:t>
            </a:r>
            <a:r>
              <a:rPr sz="1300" b="0" dirty="0" err="1">
                <a:solidFill>
                  <a:srgbClr val="FFFFFF"/>
                </a:solidFill>
              </a:rPr>
              <a:t>舊格式（無分隔符</a:t>
            </a:r>
            <a:r>
              <a:rPr sz="1300" b="0" dirty="0">
                <a:solidFill>
                  <a:srgbClr val="FFFFFF"/>
                </a:solidFill>
              </a:rPr>
              <a:t>）：
[168]1750x2000'8fc4UCHAR
共 3200 筆（40×80 Grid）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657600" cy="2011680"/>
          </a:xfrm>
          <a:prstGeom prst="rect">
            <a:avLst/>
          </a:prstGeom>
          <a:solidFill>
            <a:srgbClr val="282C42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E2AF"/>
                </a:solidFill>
              </a:rPr>
              <a:t>Zone 定義 (zone.txt)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</a:rPr>
              <a:t>case 0:
  </a:t>
            </a:r>
            <a:r>
              <a:rPr sz="1300" b="0" dirty="0" err="1">
                <a:solidFill>
                  <a:srgbClr val="FFFFFF"/>
                </a:solidFill>
              </a:rPr>
              <a:t>j_start</a:t>
            </a:r>
            <a:r>
              <a:rPr sz="1300" b="0" dirty="0">
                <a:solidFill>
                  <a:srgbClr val="FFFFFF"/>
                </a:solidFill>
              </a:rPr>
              <a:t>=4; </a:t>
            </a:r>
            <a:r>
              <a:rPr sz="1300" b="0" dirty="0" err="1">
                <a:solidFill>
                  <a:srgbClr val="FFFFFF"/>
                </a:solidFill>
              </a:rPr>
              <a:t>j_end</a:t>
            </a:r>
            <a:r>
              <a:rPr sz="1300" b="0" dirty="0">
                <a:solidFill>
                  <a:srgbClr val="FFFFFF"/>
                </a:solidFill>
              </a:rPr>
              <a:t>=10;
  </a:t>
            </a:r>
            <a:r>
              <a:rPr sz="1300" b="0" dirty="0" err="1">
                <a:solidFill>
                  <a:srgbClr val="FFFFFF"/>
                </a:solidFill>
              </a:rPr>
              <a:t>i_start</a:t>
            </a:r>
            <a:r>
              <a:rPr sz="1300" b="0" dirty="0">
                <a:solidFill>
                  <a:srgbClr val="FFFFFF"/>
                </a:solidFill>
              </a:rPr>
              <a:t>=0; </a:t>
            </a:r>
            <a:r>
              <a:rPr sz="1300" b="0" dirty="0" err="1">
                <a:solidFill>
                  <a:srgbClr val="FFFFFF"/>
                </a:solidFill>
              </a:rPr>
              <a:t>i_end</a:t>
            </a:r>
            <a:r>
              <a:rPr sz="1300" b="0" dirty="0">
                <a:solidFill>
                  <a:srgbClr val="FFFFFF"/>
                </a:solidFill>
              </a:rPr>
              <a:t>=14;
j = row (</a:t>
            </a:r>
            <a:r>
              <a:rPr sz="1300" b="0" dirty="0" err="1">
                <a:solidFill>
                  <a:srgbClr val="FFFFFF"/>
                </a:solidFill>
              </a:rPr>
              <a:t>垂直</a:t>
            </a:r>
            <a:r>
              <a:rPr sz="1300" b="0" dirty="0">
                <a:solidFill>
                  <a:srgbClr val="FFFFFF"/>
                </a:solidFill>
              </a:rPr>
              <a:t>, 0–39)
</a:t>
            </a:r>
            <a:r>
              <a:rPr sz="1300" b="0" dirty="0" err="1">
                <a:solidFill>
                  <a:srgbClr val="FFFFFF"/>
                </a:solidFill>
              </a:rPr>
              <a:t>i</a:t>
            </a:r>
            <a:r>
              <a:rPr sz="1300" b="0" dirty="0">
                <a:solidFill>
                  <a:srgbClr val="FFFFFF"/>
                </a:solidFill>
              </a:rPr>
              <a:t> = col (</a:t>
            </a:r>
            <a:r>
              <a:rPr sz="1300" b="0" dirty="0" err="1">
                <a:solidFill>
                  <a:srgbClr val="FFFFFF"/>
                </a:solidFill>
              </a:rPr>
              <a:t>水平</a:t>
            </a:r>
            <a:r>
              <a:rPr sz="1300" b="0" dirty="0">
                <a:solidFill>
                  <a:srgbClr val="FFFFFF"/>
                </a:solidFill>
              </a:rPr>
              <a:t>, 0–79)
共 30 個 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A6E3A1"/>
                </a:solidFill>
              </a:rPr>
              <a:t>工具同時支援新舊兩種</a:t>
            </a:r>
            <a:r>
              <a:rPr sz="1500" b="1" dirty="0">
                <a:solidFill>
                  <a:srgbClr val="A6E3A1"/>
                </a:solidFill>
              </a:rPr>
              <a:t> Dump </a:t>
            </a:r>
            <a:r>
              <a:rPr sz="1500" b="1" dirty="0" err="1">
                <a:solidFill>
                  <a:srgbClr val="A6E3A1"/>
                </a:solidFill>
              </a:rPr>
              <a:t>格式，自動偵測，不需手動切換</a:t>
            </a:r>
            <a:endParaRPr sz="1500" b="1" dirty="0">
              <a:solidFill>
                <a:srgbClr val="A6E3A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1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程式碼改善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C2D8"/>
                </a:solidFill>
              </a:rPr>
              <a:t>Code Review 重構摘要 (v1.5.0)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234440"/>
            <a:ext cx="27432" cy="5303520"/>
          </a:xfrm>
          <a:prstGeom prst="rect">
            <a:avLst/>
          </a:prstGeom>
          <a:solidFill>
            <a:srgbClr val="BAC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E3A1"/>
                </a:solidFill>
              </a:rPr>
              <a:t>修正項目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06637"/>
            <a:ext cx="5394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</a:rPr>
              <a:t>• </a:t>
            </a:r>
            <a:r>
              <a:rPr lang="zh-TW" altLang="en-US" sz="1600" b="0" dirty="0" smtClean="0">
                <a:solidFill>
                  <a:srgbClr val="FFFFFF"/>
                </a:solidFill>
              </a:rPr>
              <a:t>定值</a:t>
            </a:r>
            <a:r>
              <a:rPr sz="1600" b="0" dirty="0" smtClean="0">
                <a:solidFill>
                  <a:srgbClr val="FFFFFF"/>
                </a:solidFill>
              </a:rPr>
              <a:t>3200 </a:t>
            </a:r>
            <a:r>
              <a:rPr sz="1600" b="0" dirty="0">
                <a:solidFill>
                  <a:srgbClr val="FFFFFF"/>
                </a:solidFill>
              </a:rPr>
              <a:t>→ GRID_H × GRID_W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38157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新增影像尺寸驗證，不符早返回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46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彙整報告只列有異常的測試組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E3A1"/>
                </a:solidFill>
              </a:rPr>
              <a:t>效能優化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process_local_dimming：雙層迴圈 → NumPy reshape+max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231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visualize_diff：條件迴圈 → Boolean mask 向量化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089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sim_out_img 填色 → repeat × 255 向量化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947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運算速度大幅提升，記憶體更友好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805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• 邏輯與 visualize_diff.py 完全同步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1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視覺化輸出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C2D8"/>
                </a:solidFill>
              </a:rPr>
              <a:t>compare/diff_N.png 判讀方式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白色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417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AC2D8"/>
                </a:solidFill>
              </a:rPr>
              <a:t>兩者皆亮 (Both 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17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正常點亮，模擬與硬體一致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731520" cy="6400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423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8BA8"/>
                </a:solidFill>
              </a:rPr>
              <a:t>紅色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23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AC2D8"/>
                </a:solidFill>
              </a:rPr>
              <a:t>漏亮 (sim ON, dump OFF)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423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韌體未點亮但應該要亮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731520" cy="6400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3429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藍色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29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AC2D8"/>
                </a:solidFill>
              </a:rPr>
              <a:t>多亮 (sim OFF, dump 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429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韌體多點亮，不應該亮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731520" cy="640080"/>
          </a:xfrm>
          <a:prstGeom prst="rect">
            <a:avLst/>
          </a:prstGeom>
          <a:solidFill>
            <a:srgbClr val="BAC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434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C2D8"/>
                </a:solidFill>
              </a:rPr>
              <a:t>黑色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434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AC2D8"/>
                </a:solidFill>
              </a:rPr>
              <a:t>兩者皆滅 (Both OFF)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434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正常熄滅，背景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AC2D8"/>
                </a:solidFill>
              </a:rPr>
              <a:t>輸出尺寸：1280×640（與輸入影像相同），含圖例文字說明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1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輸出報告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C2D8"/>
                </a:solidFill>
              </a:rPr>
              <a:t>彙總統計範例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438912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E3A1"/>
                </a:solidFill>
              </a:rPr>
              <a:t>========== 彙總統計 ==========
成功處理 case 數: 28 / 30
總 Block 誤差: 1579
總 Zone 錯誤: 115
--- Zone 錯誤分佈 ---
   zone    漏亮    多亮   Total
  ----------------------------------
       0       0      28      28
       1       0      28      28
       2       1       2       3
--- Top-5 Block 誤差最高 Case ---
Case  5 : 87 block diffs
Case 12 : 74 block diffs
Case  3 : 68 block diffs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1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打包與部署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C2D8"/>
                </a:solidFill>
              </a:rPr>
              <a:t>Windows 執行檔 — 無需安裝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3200400"/>
          </a:xfrm>
          <a:prstGeom prst="rect">
            <a:avLst/>
          </a:prstGeom>
          <a:solidFill>
            <a:srgbClr val="282C42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建置方式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pip install pyinstaller
build.bat
→ 輸出：local_dimming_validator.exe
→ 位置：專案根目錄（~55 MB）
→ 模式：onefile（單一執行檔）
→ 每次執行解壓至 temp，完成後清除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3200400"/>
          </a:xfrm>
          <a:prstGeom prst="rect">
            <a:avLst/>
          </a:prstGeom>
          <a:solidFill>
            <a:srgbClr val="282C42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E3A1"/>
                </a:solidFill>
              </a:rPr>
              <a:t>部署只需三樣東西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local_dimming_validator.exe
zone.txt
input/、dump/、LED/
執行方式：
local_dimming_validator.exe
  [data_dir] [-c COUNT]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E2AF"/>
                </a:solidFill>
              </a:rPr>
              <a:t>GitHub Releases v1.7.0 — 可直接下載 .exe，無需建置環境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89B4FA"/>
                </a:solidFill>
              </a:rPr>
              <a:t>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4316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自動化比對：批次驗證 N 組測試資料，輸出完整統計報告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雙層驗證：Block 層級差異 + Zone 層級漏亮 / 多亮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39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</a:rPr>
              <a:t>✅  </a:t>
            </a:r>
            <a:r>
              <a:rPr sz="1700" b="0" dirty="0" err="1">
                <a:solidFill>
                  <a:srgbClr val="FFFFFF"/>
                </a:solidFill>
              </a:rPr>
              <a:t>相容性：支援新舊兩種</a:t>
            </a:r>
            <a:r>
              <a:rPr sz="1700" b="0" dirty="0">
                <a:solidFill>
                  <a:srgbClr val="FFFFFF"/>
                </a:solidFill>
              </a:rPr>
              <a:t> Dump </a:t>
            </a:r>
            <a:r>
              <a:rPr sz="1700" b="0" dirty="0" err="1">
                <a:solidFill>
                  <a:srgbClr val="FFFFFF"/>
                </a:solidFill>
              </a:rPr>
              <a:t>格式，影像尺寸自動驗證</a:t>
            </a:r>
            <a:endParaRPr sz="1700" b="0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4297679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</a:rPr>
              <a:t>✅  </a:t>
            </a:r>
            <a:r>
              <a:rPr sz="1700" b="0" dirty="0" err="1">
                <a:solidFill>
                  <a:srgbClr val="FFFFFF"/>
                </a:solidFill>
              </a:rPr>
              <a:t>效能：NumPy</a:t>
            </a:r>
            <a:r>
              <a:rPr sz="1700" b="0" dirty="0">
                <a:solidFill>
                  <a:srgbClr val="FFFFFF"/>
                </a:solidFill>
              </a:rPr>
              <a:t> </a:t>
            </a:r>
            <a:r>
              <a:rPr sz="1700" b="0" dirty="0" err="1">
                <a:solidFill>
                  <a:srgbClr val="FFFFFF"/>
                </a:solidFill>
              </a:rPr>
              <a:t>向量化，告別雙層迴圈</a:t>
            </a:r>
            <a:endParaRPr sz="1700" b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507492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</a:rPr>
              <a:t>✅  </a:t>
            </a:r>
            <a:r>
              <a:rPr sz="1700" b="0" dirty="0" err="1">
                <a:solidFill>
                  <a:srgbClr val="FFFFFF"/>
                </a:solidFill>
              </a:rPr>
              <a:t>易部署：單一</a:t>
            </a:r>
            <a:r>
              <a:rPr sz="1700" b="0" dirty="0">
                <a:solidFill>
                  <a:srgbClr val="FFFFFF"/>
                </a:solidFill>
              </a:rPr>
              <a:t> .</a:t>
            </a:r>
            <a:r>
              <a:rPr sz="1700" b="0" dirty="0" err="1">
                <a:solidFill>
                  <a:srgbClr val="FFFFFF"/>
                </a:solidFill>
              </a:rPr>
              <a:t>exe，免安裝</a:t>
            </a:r>
            <a:r>
              <a:rPr sz="1700" b="0" dirty="0">
                <a:solidFill>
                  <a:srgbClr val="FFFFFF"/>
                </a:solidFill>
              </a:rPr>
              <a:t> </a:t>
            </a:r>
            <a:r>
              <a:rPr sz="1700" b="0" dirty="0" err="1">
                <a:solidFill>
                  <a:srgbClr val="FFFFFF"/>
                </a:solidFill>
              </a:rPr>
              <a:t>Python，GitHub</a:t>
            </a:r>
            <a:r>
              <a:rPr sz="1700" b="0" dirty="0">
                <a:solidFill>
                  <a:srgbClr val="FFFFFF"/>
                </a:solidFill>
              </a:rPr>
              <a:t> Releases </a:t>
            </a:r>
            <a:r>
              <a:rPr sz="1700" b="0" dirty="0" err="1">
                <a:solidFill>
                  <a:srgbClr val="FFFFFF"/>
                </a:solidFill>
              </a:rPr>
              <a:t>提供下載</a:t>
            </a:r>
            <a:endParaRPr sz="1700"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319</Words>
  <Application>Microsoft Office PowerPoint</Application>
  <PresentationFormat>自訂</PresentationFormat>
  <Paragraphs>93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新細明體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台灣_電六部 許宬華 erichsu</cp:lastModifiedBy>
  <cp:revision>3</cp:revision>
  <dcterms:created xsi:type="dcterms:W3CDTF">2013-01-27T09:14:16Z</dcterms:created>
  <dcterms:modified xsi:type="dcterms:W3CDTF">2026-04-29T02:02:11Z</dcterms:modified>
  <cp:category/>
</cp:coreProperties>
</file>