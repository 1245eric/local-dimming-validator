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1" r:id="rId1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3" d="100"/>
          <a:sy n="73" d="100"/>
        </p:scale>
        <p:origin x="90" y="17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1520" y="109728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89B4FA"/>
                </a:solidFill>
              </a:rPr>
              <a:t>Local Dimming Alignment Validator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BAC2D8"/>
                </a:solidFill>
              </a:rPr>
              <a:t>顯示器局部背光控制驗證工具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AC2D8"/>
                </a:solidFill>
              </a:rPr>
              <a:t>v1.7.0　|　1245eric / local-dimming-validator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AC2D8"/>
                </a:solidFill>
              </a:rPr>
              <a:t>2026-04-29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31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89B4FA"/>
                </a:solidFill>
              </a:rPr>
              <a:t>什麼是 Local Dimming？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AC2D8"/>
                </a:solidFill>
              </a:rPr>
              <a:t>顯示器背光技術背景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80160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89B4FA"/>
                </a:solidFill>
              </a:rPr>
              <a:t>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8016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LED 背光顯示器將螢幕分成數十個獨立區域（Zone），各自控制亮度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57400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89B4FA"/>
                </a:solidFill>
              </a:rPr>
              <a:t>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5740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高對比場景下，暗部 Zone 關燈、亮部 Zone 全亮，以提升對比度與省電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834639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89B4FA"/>
                </a:solidFill>
              </a:rPr>
              <a:t>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4639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Local Dimming 控制器需判斷每個 Zone 的亮度需求，驅動對應 LED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611879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89B4FA"/>
                </a:solidFill>
              </a:rPr>
              <a:t>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611879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驗證：確認韌體邏輯與理論模擬結果一致，避免「漏亮」或「多亮」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31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89B4FA"/>
                </a:solidFill>
              </a:rPr>
              <a:t>問題定義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AC2D8"/>
                </a:solidFill>
              </a:rPr>
              <a:t>為什麼需要這個工具？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3474720" cy="2286000"/>
          </a:xfrm>
          <a:prstGeom prst="rect">
            <a:avLst/>
          </a:prstGeom>
          <a:solidFill>
            <a:srgbClr val="313552"/>
          </a:solidFill>
          <a:ln w="12700">
            <a:solidFill>
              <a:srgbClr val="F38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6002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38BA8"/>
                </a:solidFill>
              </a:rPr>
              <a:t>漏亮 (Missing Light)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模擬應亮，硬體未亮 → 畫面偏暗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474720" cy="2286000"/>
          </a:xfrm>
          <a:prstGeom prst="rect">
            <a:avLst/>
          </a:prstGeom>
          <a:solidFill>
            <a:srgbClr val="313552"/>
          </a:solidFill>
          <a:ln w="12700">
            <a:solidFill>
              <a:srgbClr val="F9E2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34840" y="16002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9E2AF"/>
                </a:solidFill>
              </a:rPr>
              <a:t>多亮 (Extra Light)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19456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模擬應滅，硬體多亮 → 對比度下降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463040"/>
            <a:ext cx="3474720" cy="2286000"/>
          </a:xfrm>
          <a:prstGeom prst="rect">
            <a:avLst/>
          </a:prstGeom>
          <a:solidFill>
            <a:srgbClr val="313552"/>
          </a:solidFill>
          <a:ln w="12700">
            <a:solidFill>
              <a:srgbClr val="89B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75320" y="16002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9B4FA"/>
                </a:solidFill>
              </a:rPr>
              <a:t>Block 誤差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19456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40×80 Grid 中每格亮度值不一致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0233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A6E3A1"/>
                </a:solidFill>
              </a:rPr>
              <a:t>本工具自動比對所有測試組，輸出視覺化差異圖與統計報告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31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89B4FA"/>
                </a:solidFill>
              </a:rPr>
              <a:t>專案架構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AC2D8"/>
                </a:solidFill>
              </a:rPr>
              <a:t>目錄結構與主要元件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89320" y="1234440"/>
            <a:ext cx="27432" cy="5303520"/>
          </a:xfrm>
          <a:prstGeom prst="rect">
            <a:avLst/>
          </a:prstGeom>
          <a:solidFill>
            <a:srgbClr val="BAC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23444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A6E3A1"/>
                </a:solidFill>
              </a:rPr>
              <a:t>程式元件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73736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• local_dimming_align.py　主程式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42316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rgbClr val="FFFFFF"/>
                </a:solidFill>
              </a:rPr>
              <a:t>• visualize_diff.py　</a:t>
            </a:r>
            <a:r>
              <a:rPr sz="1600" b="0" dirty="0" err="1">
                <a:solidFill>
                  <a:srgbClr val="FFFFFF"/>
                </a:solidFill>
              </a:rPr>
              <a:t>獨立視覺化腳本</a:t>
            </a:r>
            <a:endParaRPr sz="1600" b="0" dirty="0">
              <a:solidFill>
                <a:srgbClr val="FFFFFF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65760" y="310896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• zone.txt　30 個 LED Zone 座標定義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79476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• build.bat + .spec　PyInstaller 打包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48056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• local_dimming_validator.exe　發佈執行檔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23444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A6E3A1"/>
                </a:solidFill>
              </a:rPr>
              <a:t>資料目錄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737360"/>
            <a:ext cx="5577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• input/　灰階輸入影像 (1280×640)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423160"/>
            <a:ext cx="5577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• dump/　硬體 Dump txt 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108960"/>
            <a:ext cx="5577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• LED/　LED 亮滅 log 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794760"/>
            <a:ext cx="5577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• compare/　比對結果影像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480560"/>
            <a:ext cx="5577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• sim_output/　模擬輸出影像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166360"/>
            <a:ext cx="5577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• logs/　執行日誌（UTC+8 時戳）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31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89B4FA"/>
                </a:solidFill>
              </a:rPr>
              <a:t>核心流程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AC2D8"/>
                </a:solidFill>
              </a:rPr>
              <a:t>三個主要處理步驟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3383280" cy="2926080"/>
          </a:xfrm>
          <a:prstGeom prst="rect">
            <a:avLst/>
          </a:prstGeom>
          <a:solidFill>
            <a:srgbClr val="282C42"/>
          </a:solidFill>
          <a:ln w="12700">
            <a:solidFill>
              <a:srgbClr val="89B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89B4FA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116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89B4FA"/>
                </a:solidFill>
              </a:rPr>
              <a:t>Max-Pooling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06040"/>
            <a:ext cx="3017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1280×640 影像 → 40×80 Grid
每格 16×16 像素取最大值
模擬 LED 亮度分布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79" y="1371600"/>
            <a:ext cx="3383280" cy="2926080"/>
          </a:xfrm>
          <a:prstGeom prst="rect">
            <a:avLst/>
          </a:prstGeom>
          <a:solidFill>
            <a:srgbClr val="282C42"/>
          </a:solidFill>
          <a:ln w="12700">
            <a:solidFill>
              <a:srgbClr val="A6E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34840" y="1463040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A6E3A1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0116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A6E3A1"/>
                </a:solidFill>
              </a:rPr>
              <a:t>Block 比對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606040"/>
            <a:ext cx="3017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逐格比較 Dump 與模擬結果
統計差異格數 (block_diffs)
輸出 diff 視覺化圖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19" y="1371600"/>
            <a:ext cx="3383280" cy="2926080"/>
          </a:xfrm>
          <a:prstGeom prst="rect">
            <a:avLst/>
          </a:prstGeom>
          <a:solidFill>
            <a:srgbClr val="282C42"/>
          </a:solidFill>
          <a:ln w="12700">
            <a:solidFill>
              <a:srgbClr val="F9E2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83879" y="1463040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9E2A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20116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9E2AF"/>
                </a:solidFill>
              </a:rPr>
              <a:t>Zone 比對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2606040"/>
            <a:ext cx="3017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依 zone.txt 座標聚合亮度
判定漏亮 / 多亮
輸出 Zone 層級報告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BAC2D8"/>
                </a:solidFill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BAC2D8"/>
                </a:solidFill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663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AC2D8"/>
                </a:solidFill>
              </a:rPr>
              <a:t>輸入影像 → 模擬 → 與硬體 Dump 比對 → 彙總統計報告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31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89B4FA"/>
                </a:solidFill>
              </a:rPr>
              <a:t>關鍵程式碼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AC2D8"/>
                </a:solidFill>
              </a:rPr>
              <a:t>Max-Pooling 核心 &amp; 差異視覺化向量化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486400" cy="4114800"/>
          </a:xfrm>
          <a:prstGeom prst="rect">
            <a:avLst/>
          </a:prstGeom>
          <a:solidFill>
            <a:srgbClr val="0D0F18"/>
          </a:solidFill>
          <a:ln w="12700">
            <a:solidFill>
              <a:srgbClr val="89B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9B4FA"/>
                </a:solidFill>
              </a:rPr>
              <a:t>process_local_dimming()  —  NumPy reshape + max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27632"/>
            <a:ext cx="5303520" cy="3630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>
                <a:solidFill>
                  <a:srgbClr val="A6E3A1"/>
                </a:solidFill>
                <a:latin typeface="Courier New"/>
              </a:rPr>
              <a:t>def process_local_dimming(img):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>
                <a:solidFill>
                  <a:srgbClr val="A6E3A1"/>
                </a:solidFill>
                <a:latin typeface="Courier New"/>
              </a:rPr>
              <a:t>    # 切出符合 Grid 尺寸的區域，重塑為四維張量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>
                <a:solidFill>
                  <a:srgbClr val="A6E3A1"/>
                </a:solidFill>
                <a:latin typeface="Courier New"/>
              </a:rPr>
              <a:t>    tiles = img[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>
                <a:solidFill>
                  <a:srgbClr val="A6E3A1"/>
                </a:solidFill>
                <a:latin typeface="Courier New"/>
              </a:rPr>
              <a:t>        :GRID_H * BLOCK_H,   # 640 px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>
                <a:solidFill>
                  <a:srgbClr val="A6E3A1"/>
                </a:solidFill>
                <a:latin typeface="Courier New"/>
              </a:rPr>
              <a:t>        :GRID_W * BLOCK_W    # 1280 px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>
                <a:solidFill>
                  <a:srgbClr val="A6E3A1"/>
                </a:solidFill>
                <a:latin typeface="Courier New"/>
              </a:rPr>
              <a:t>    ].reshape(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>
                <a:solidFill>
                  <a:srgbClr val="A6E3A1"/>
                </a:solidFill>
                <a:latin typeface="Courier New"/>
              </a:rPr>
              <a:t>        GRID_H, BLOCK_H,     # 40, 16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>
                <a:solidFill>
                  <a:srgbClr val="A6E3A1"/>
                </a:solidFill>
                <a:latin typeface="Courier New"/>
              </a:rPr>
              <a:t>        GRID_W, BLOCK_W      # 80, 16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>
                <a:solidFill>
                  <a:srgbClr val="A6E3A1"/>
                </a:solidFill>
                <a:latin typeface="Courier New"/>
              </a:rPr>
              <a:t>    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>
                <a:solidFill>
                  <a:srgbClr val="A6E3A1"/>
                </a:solidFill>
                <a:latin typeface="Courier New"/>
              </a:rPr>
              <a:t>    # 沿 Block 維度取最大值 → 40×80 Grid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>
                <a:solidFill>
                  <a:srgbClr val="A6E3A1"/>
                </a:solidFill>
                <a:latin typeface="Courier New"/>
              </a:rPr>
              <a:t>    return tiles.max(axis=(1, 3)).astype(np.int32)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234440"/>
            <a:ext cx="5577840" cy="4114800"/>
          </a:xfrm>
          <a:prstGeom prst="rect">
            <a:avLst/>
          </a:prstGeom>
          <a:solidFill>
            <a:srgbClr val="0D0F18"/>
          </a:solidFill>
          <a:ln w="12700">
            <a:solidFill>
              <a:srgbClr val="89B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280160"/>
            <a:ext cx="53949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6E3A1"/>
                </a:solidFill>
              </a:rPr>
              <a:t>visualize_diff()  —  Boolean mask 向量化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59" y="1627632"/>
            <a:ext cx="5394959" cy="3630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>
                <a:solidFill>
                  <a:srgbClr val="A6E3A1"/>
                </a:solidFill>
                <a:latin typeface="Courier New"/>
              </a:rPr>
              <a:t>def visualize_diff(dump_arr, sim_arr, ...):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>
                <a:solidFill>
                  <a:srgbClr val="A6E3A1"/>
                </a:solidFill>
                <a:latin typeface="Courier New"/>
              </a:rPr>
              <a:t>    vis_img = np.zeros((GRID_H, GRID_W, 3), np.uint8)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endParaRPr sz="1300">
              <a:solidFill>
                <a:srgbClr val="A6E3A1"/>
              </a:solidFill>
              <a:latin typeface="Courier New"/>
            </a:endParaRP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>
                <a:solidFill>
                  <a:srgbClr val="A6E3A1"/>
                </a:solidFill>
                <a:latin typeface="Courier New"/>
              </a:rPr>
              <a:t>    # Boolean mask 向量化，取代逐格迴圈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>
                <a:solidFill>
                  <a:srgbClr val="A6E3A1"/>
                </a:solidFill>
                <a:latin typeface="Courier New"/>
              </a:rPr>
              <a:t>    both_on = (dump_arr &gt; 0) &amp; (sim_arr &gt; 0)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>
                <a:solidFill>
                  <a:srgbClr val="A6E3A1"/>
                </a:solidFill>
                <a:latin typeface="Courier New"/>
              </a:rPr>
              <a:t>    missing = (dump_arr == 0) &amp; (sim_arr &gt; 0)  # 漏亮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>
                <a:solidFill>
                  <a:srgbClr val="A6E3A1"/>
                </a:solidFill>
                <a:latin typeface="Courier New"/>
              </a:rPr>
              <a:t>    extra   = (dump_arr &gt; 0) &amp; (sim_arr == 0)  # 多亮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endParaRPr sz="1300">
              <a:solidFill>
                <a:srgbClr val="A6E3A1"/>
              </a:solidFill>
              <a:latin typeface="Courier New"/>
            </a:endParaRP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>
                <a:solidFill>
                  <a:srgbClr val="A6E3A1"/>
                </a:solidFill>
                <a:latin typeface="Courier New"/>
              </a:rPr>
              <a:t>    vis_img[both_on] = (255, 255, 255)  # 白：正常點亮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>
                <a:solidFill>
                  <a:srgbClr val="A6E3A1"/>
                </a:solidFill>
                <a:latin typeface="Courier New"/>
              </a:rPr>
              <a:t>    vis_img[missing] = (  0,   0, 255)  # 紅：漏亮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>
                <a:solidFill>
                  <a:srgbClr val="A6E3A1"/>
                </a:solidFill>
                <a:latin typeface="Courier New"/>
              </a:rPr>
              <a:t>    vis_img[extra  ] = (255,   0,   0)  # 藍：多亮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endParaRPr sz="1300">
              <a:solidFill>
                <a:srgbClr val="A6E3A1"/>
              </a:solidFill>
              <a:latin typeface="Courier New"/>
            </a:endParaRP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>
                <a:solidFill>
                  <a:srgbClr val="A6E3A1"/>
                </a:solidFill>
                <a:latin typeface="Courier New"/>
              </a:rPr>
              <a:t>    diff_count = int(np.sum(missing) + np.sum(extra))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577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9E2AF"/>
                </a:solidFill>
              </a:rPr>
              <a:t>雙層迴圈 → reshape+max / Boolean mask：速度大幅提升，程式碼更簡潔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31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89B4FA"/>
                </a:solidFill>
              </a:rPr>
              <a:t>關鍵程式碼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AC2D8"/>
                </a:solidFill>
              </a:rPr>
              <a:t>Dump 格式自動偵測 &amp; Zone 層級漏亮判斷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486400" cy="4572000"/>
          </a:xfrm>
          <a:prstGeom prst="rect">
            <a:avLst/>
          </a:prstGeom>
          <a:solidFill>
            <a:srgbClr val="0D0F18"/>
          </a:solidFill>
          <a:ln w="12700">
            <a:solidFill>
              <a:srgbClr val="89B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9B4FA"/>
                </a:solidFill>
              </a:rPr>
              <a:t>parse_dump()  —  新舊格式自動偵測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27632"/>
            <a:ext cx="5303520" cy="4087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dirty="0" err="1">
                <a:solidFill>
                  <a:srgbClr val="A6E3A1"/>
                </a:solidFill>
                <a:latin typeface="Courier New"/>
              </a:rPr>
              <a:t>def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parse_dump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(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file_path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, logger):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dirty="0">
                <a:solidFill>
                  <a:srgbClr val="A6E3A1"/>
                </a:solidFill>
                <a:latin typeface="Courier New"/>
              </a:rPr>
              <a:t>   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dump_data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 =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np.zeros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(GRID_H * GRID_W, np.int32)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dirty="0">
                <a:solidFill>
                  <a:srgbClr val="A6E3A1"/>
                </a:solidFill>
                <a:latin typeface="Courier New"/>
              </a:rPr>
              <a:t>    with open(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file_path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, 'r') as f: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dirty="0">
                <a:solidFill>
                  <a:srgbClr val="A6E3A1"/>
                </a:solidFill>
                <a:latin typeface="Courier New"/>
              </a:rPr>
              <a:t>        for line in f: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dirty="0">
                <a:solidFill>
                  <a:srgbClr val="A6E3A1"/>
                </a:solidFill>
                <a:latin typeface="Courier New"/>
              </a:rPr>
              <a:t>            #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新格式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：[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idx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] 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value（Tab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 /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空白分隔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）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dirty="0">
                <a:solidFill>
                  <a:srgbClr val="A6E3A1"/>
                </a:solidFill>
                <a:latin typeface="Courier New"/>
              </a:rPr>
              <a:t>            match =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re.search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(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dirty="0">
                <a:solidFill>
                  <a:srgbClr val="A6E3A1"/>
                </a:solidFill>
                <a:latin typeface="Courier New"/>
              </a:rPr>
              <a:t>                r'\[(\d+)\]\s+(\d+)', line)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dirty="0">
                <a:solidFill>
                  <a:srgbClr val="A6E3A1"/>
                </a:solidFill>
                <a:latin typeface="Courier New"/>
              </a:rPr>
              <a:t>            #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舊格式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：[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idx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]value0x...（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無分隔符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）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dirty="0">
                <a:solidFill>
                  <a:srgbClr val="A6E3A1"/>
                </a:solidFill>
                <a:latin typeface="Courier New"/>
              </a:rPr>
              <a:t>            if not match: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dirty="0">
                <a:solidFill>
                  <a:srgbClr val="A6E3A1"/>
                </a:solidFill>
                <a:latin typeface="Courier New"/>
              </a:rPr>
              <a:t>                match =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re.search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(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dirty="0">
                <a:solidFill>
                  <a:srgbClr val="A6E3A1"/>
                </a:solidFill>
                <a:latin typeface="Courier New"/>
              </a:rPr>
              <a:t>                    r'\[(\d+)\](\d+)0x', line)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dirty="0">
                <a:solidFill>
                  <a:srgbClr val="A6E3A1"/>
                </a:solidFill>
                <a:latin typeface="Courier New"/>
              </a:rPr>
              <a:t>            if match: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dirty="0">
                <a:solidFill>
                  <a:srgbClr val="A6E3A1"/>
                </a:solidFill>
                <a:latin typeface="Courier New"/>
              </a:rPr>
              <a:t>               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idx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 =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int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(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match.group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(1))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dirty="0">
                <a:solidFill>
                  <a:srgbClr val="A6E3A1"/>
                </a:solidFill>
                <a:latin typeface="Courier New"/>
              </a:rPr>
              <a:t>               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val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 =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int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(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match.group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(2))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dirty="0">
                <a:solidFill>
                  <a:srgbClr val="A6E3A1"/>
                </a:solidFill>
                <a:latin typeface="Courier New"/>
              </a:rPr>
              <a:t>               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dump_data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[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idx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] =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val</a:t>
            </a:r>
            <a:endParaRPr sz="1200" dirty="0">
              <a:solidFill>
                <a:srgbClr val="A6E3A1"/>
              </a:solidFill>
              <a:latin typeface="Courier New"/>
            </a:endParaRP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dirty="0">
                <a:solidFill>
                  <a:srgbClr val="A6E3A1"/>
                </a:solidFill>
                <a:latin typeface="Courier New"/>
              </a:rPr>
              <a:t>    return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dump_data.reshape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((GRID_H, GRID_W))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234440"/>
            <a:ext cx="5577840" cy="4572000"/>
          </a:xfrm>
          <a:prstGeom prst="rect">
            <a:avLst/>
          </a:prstGeom>
          <a:solidFill>
            <a:srgbClr val="0D0F18"/>
          </a:solidFill>
          <a:ln w="12700">
            <a:solidFill>
              <a:srgbClr val="89B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280160"/>
            <a:ext cx="53949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6E3A1"/>
                </a:solidFill>
              </a:rPr>
              <a:t>evaluate_zones()  —  Zone 漏亮 / 多亮判斷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59" y="1627632"/>
            <a:ext cx="5394959" cy="4087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dirty="0">
                <a:solidFill>
                  <a:srgbClr val="A6E3A1"/>
                </a:solidFill>
                <a:latin typeface="Courier New"/>
              </a:rPr>
              <a:t>for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case_id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 in sorted(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zones.keys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()):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dirty="0">
                <a:solidFill>
                  <a:srgbClr val="A6E3A1"/>
                </a:solidFill>
                <a:latin typeface="Courier New"/>
              </a:rPr>
              <a:t>   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j_s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,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j_e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,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i_s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,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i_e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 = zones[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case_id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]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endParaRPr sz="1200" dirty="0">
              <a:solidFill>
                <a:srgbClr val="A6E3A1"/>
              </a:solidFill>
              <a:latin typeface="Courier New"/>
            </a:endParaRP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dirty="0">
                <a:solidFill>
                  <a:srgbClr val="A6E3A1"/>
                </a:solidFill>
                <a:latin typeface="Courier New"/>
              </a:rPr>
              <a:t>    #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模擬預期：sim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 在 zone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範圍有任一亮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 block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dirty="0">
                <a:solidFill>
                  <a:srgbClr val="A6E3A1"/>
                </a:solidFill>
                <a:latin typeface="Courier New"/>
              </a:rPr>
              <a:t>   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sim_zone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     =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sim_data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[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j_s:j_e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,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i_s:i_e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]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dirty="0">
                <a:solidFill>
                  <a:srgbClr val="A6E3A1"/>
                </a:solidFill>
                <a:latin typeface="Courier New"/>
              </a:rPr>
              <a:t>   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expected_on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  =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bool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(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np.any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(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sim_zone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 &gt; 0))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endParaRPr sz="1200" dirty="0">
              <a:solidFill>
                <a:srgbClr val="A6E3A1"/>
              </a:solidFill>
              <a:latin typeface="Courier New"/>
            </a:endParaRP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dirty="0">
                <a:solidFill>
                  <a:srgbClr val="A6E3A1"/>
                </a:solidFill>
                <a:latin typeface="Courier New"/>
              </a:rPr>
              <a:t>    #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硬體實際：dump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 在 zone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範圍有任一非零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 block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dirty="0">
                <a:solidFill>
                  <a:srgbClr val="A6E3A1"/>
                </a:solidFill>
                <a:latin typeface="Courier New"/>
              </a:rPr>
              <a:t>   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dump_zone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    =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dump_data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[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j_s:j_e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,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i_s:i_e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]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dirty="0">
                <a:solidFill>
                  <a:srgbClr val="A6E3A1"/>
                </a:solidFill>
                <a:latin typeface="Courier New"/>
              </a:rPr>
              <a:t>   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actual_on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    =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bool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(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np.any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(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dump_zone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 &gt; 0))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endParaRPr sz="1200" dirty="0">
              <a:solidFill>
                <a:srgbClr val="A6E3A1"/>
              </a:solidFill>
              <a:latin typeface="Courier New"/>
            </a:endParaRP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dirty="0">
                <a:solidFill>
                  <a:srgbClr val="A6E3A1"/>
                </a:solidFill>
                <a:latin typeface="Courier New"/>
              </a:rPr>
              <a:t>    if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expected_on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 and not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actual_on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dirty="0">
                <a:solidFill>
                  <a:srgbClr val="A6E3A1"/>
                </a:solidFill>
                <a:latin typeface="Courier New"/>
              </a:rPr>
              <a:t>       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error_type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 = '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漏亮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'   # ERROR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dirty="0">
                <a:solidFill>
                  <a:srgbClr val="A6E3A1"/>
                </a:solidFill>
                <a:latin typeface="Courier New"/>
              </a:rPr>
              <a:t>   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elif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 not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expected_on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 and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actual_on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dirty="0">
                <a:solidFill>
                  <a:srgbClr val="A6E3A1"/>
                </a:solidFill>
                <a:latin typeface="Courier New"/>
              </a:rPr>
              <a:t>       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error_type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 = '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多亮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'   # ERROR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dirty="0">
                <a:solidFill>
                  <a:srgbClr val="A6E3A1"/>
                </a:solidFill>
                <a:latin typeface="Courier New"/>
              </a:rPr>
              <a:t>    else: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dirty="0">
                <a:solidFill>
                  <a:srgbClr val="A6E3A1"/>
                </a:solidFill>
                <a:latin typeface="Courier New"/>
              </a:rPr>
              <a:t>        </a:t>
            </a:r>
            <a:r>
              <a:rPr sz="1200" dirty="0" err="1">
                <a:solidFill>
                  <a:srgbClr val="A6E3A1"/>
                </a:solidFill>
                <a:latin typeface="Courier New"/>
              </a:rPr>
              <a:t>error_type</a:t>
            </a:r>
            <a:r>
              <a:rPr sz="1200" dirty="0">
                <a:solidFill>
                  <a:srgbClr val="A6E3A1"/>
                </a:solidFill>
                <a:latin typeface="Courier New"/>
              </a:rPr>
              <a:t> = None     # 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9E2AF"/>
                </a:solidFill>
              </a:rPr>
              <a:t>兩種 Dump 格式無需手動切換；Zone 判斷以 np.any() 一行完成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31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89B4FA"/>
                </a:solidFill>
              </a:rPr>
              <a:t>輸入格式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AC2D8"/>
                </a:solidFill>
              </a:rPr>
              <a:t>影像、Dump 檔、Zone 定義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3291840" cy="2011680"/>
          </a:xfrm>
          <a:prstGeom prst="rect">
            <a:avLst/>
          </a:prstGeom>
          <a:solidFill>
            <a:srgbClr val="282C42"/>
          </a:solidFill>
          <a:ln w="12700">
            <a:solidFill>
              <a:srgbClr val="89B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9B4FA"/>
                </a:solidFill>
              </a:rPr>
              <a:t>影像規格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301752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 err="1">
                <a:solidFill>
                  <a:srgbClr val="FFFFFF"/>
                </a:solidFill>
              </a:rPr>
              <a:t>路徑：input</a:t>
            </a:r>
            <a:r>
              <a:rPr sz="1400" b="0" dirty="0">
                <a:solidFill>
                  <a:srgbClr val="FFFFFF"/>
                </a:solidFill>
              </a:rPr>
              <a:t>/input_{N}.png
尺寸：1280 × 640 </a:t>
            </a:r>
            <a:r>
              <a:rPr sz="1400" b="0" dirty="0" err="1">
                <a:solidFill>
                  <a:srgbClr val="FFFFFF"/>
                </a:solidFill>
              </a:rPr>
              <a:t>px</a:t>
            </a:r>
            <a:r>
              <a:rPr sz="1400" b="0" dirty="0">
                <a:solidFill>
                  <a:srgbClr val="FFFFFF"/>
                </a:solidFill>
              </a:rPr>
              <a:t>
→ </a:t>
            </a:r>
            <a:r>
              <a:rPr sz="1400" b="0" dirty="0" err="1">
                <a:solidFill>
                  <a:srgbClr val="FFFFFF"/>
                </a:solidFill>
              </a:rPr>
              <a:t>不符尺寸自動跳過</a:t>
            </a:r>
            <a:endParaRPr sz="1400" b="0" dirty="0">
              <a:solidFill>
                <a:srgbClr val="FFFFFF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931920" y="1280160"/>
            <a:ext cx="3931920" cy="2011680"/>
          </a:xfrm>
          <a:prstGeom prst="rect">
            <a:avLst/>
          </a:prstGeom>
          <a:solidFill>
            <a:srgbClr val="282C42"/>
          </a:solidFill>
          <a:ln w="12700">
            <a:solidFill>
              <a:srgbClr val="A6E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069080" y="1371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A6E3A1"/>
                </a:solidFill>
              </a:rPr>
              <a:t>Dump 格式（兩種）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18288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 err="1">
                <a:solidFill>
                  <a:srgbClr val="FFFFFF"/>
                </a:solidFill>
              </a:rPr>
              <a:t>新格式（Tab</a:t>
            </a:r>
            <a:r>
              <a:rPr sz="1300" b="0" dirty="0">
                <a:solidFill>
                  <a:srgbClr val="FFFFFF"/>
                </a:solidFill>
              </a:rPr>
              <a:t> </a:t>
            </a:r>
            <a:r>
              <a:rPr sz="1300" b="0" dirty="0" err="1">
                <a:solidFill>
                  <a:srgbClr val="FFFFFF"/>
                </a:solidFill>
              </a:rPr>
              <a:t>分隔</a:t>
            </a:r>
            <a:r>
              <a:rPr sz="1300" b="0" dirty="0">
                <a:solidFill>
                  <a:srgbClr val="FFFFFF"/>
                </a:solidFill>
              </a:rPr>
              <a:t>）：
[0]  0  0x2000'8f1c  UCHAR
</a:t>
            </a:r>
            <a:r>
              <a:rPr sz="1300" b="0" dirty="0" err="1">
                <a:solidFill>
                  <a:srgbClr val="FFFFFF"/>
                </a:solidFill>
              </a:rPr>
              <a:t>舊格式（無分隔符</a:t>
            </a:r>
            <a:r>
              <a:rPr sz="1300" b="0" dirty="0">
                <a:solidFill>
                  <a:srgbClr val="FFFFFF"/>
                </a:solidFill>
              </a:rPr>
              <a:t>）：
[168]1750x2000'8fc4UCHAR
共 3200 筆（40×80 Grid）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280160"/>
            <a:ext cx="3657600" cy="2011680"/>
          </a:xfrm>
          <a:prstGeom prst="rect">
            <a:avLst/>
          </a:prstGeom>
          <a:solidFill>
            <a:srgbClr val="282C42"/>
          </a:solidFill>
          <a:ln w="12700">
            <a:solidFill>
              <a:srgbClr val="F9E2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75320" y="13716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9E2AF"/>
                </a:solidFill>
              </a:rPr>
              <a:t>Zone 定義 (zone.txt)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82880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case 0:
  j_start=4; j_end=10;
  i_start=0; i_end=14;
j = row (垂直, 0–39)
i = col (水平, 0–79)
共 30 個 Zone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520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A6E3A1"/>
                </a:solidFill>
              </a:rPr>
              <a:t>工具同時支援新舊兩種 Dump 格式，自動偵測，不需手動切換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31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89B4FA"/>
                </a:solidFill>
              </a:rPr>
              <a:t>程式碼改善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AC2D8"/>
                </a:solidFill>
              </a:rPr>
              <a:t>Code Review 重構摘要 (v1.5.0)</a:t>
            </a:r>
          </a:p>
        </p:txBody>
      </p:sp>
      <p:sp>
        <p:nvSpPr>
          <p:cNvPr id="5" name="Rectangle 4"/>
          <p:cNvSpPr/>
          <p:nvPr/>
        </p:nvSpPr>
        <p:spPr>
          <a:xfrm>
            <a:off x="5989320" y="1234440"/>
            <a:ext cx="27432" cy="5303520"/>
          </a:xfrm>
          <a:prstGeom prst="rect">
            <a:avLst/>
          </a:prstGeom>
          <a:solidFill>
            <a:srgbClr val="BAC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23444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A6E3A1"/>
                </a:solidFill>
              </a:rPr>
              <a:t>修正項目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82880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• 新增舊格式 Dump 備用 regex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390503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• 新增影像尺寸驗證，不符早返回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95220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• 彙整報告只列有異常的測試組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23444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A6E3A1"/>
                </a:solidFill>
              </a:rPr>
              <a:t>效能優化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737360"/>
            <a:ext cx="5577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• process_local_dimming：雙層迴圈 → NumPy reshape+max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423160"/>
            <a:ext cx="5577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• visualize_diff：條件迴圈 → Boolean mask 向量化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108960"/>
            <a:ext cx="5577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• sim_out_img 填色 → repeat × 255 向量化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31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89B4FA"/>
                </a:solidFill>
              </a:rPr>
              <a:t>視覺化輸出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AC2D8"/>
                </a:solidFill>
              </a:rPr>
              <a:t>compare/diff_N.png 判讀方式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73152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71600" y="141732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白色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41732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AC2D8"/>
                </a:solidFill>
              </a:rPr>
              <a:t>兩者皆亮 (Both 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14173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正常點亮，模擬與硬體一致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77440"/>
            <a:ext cx="731520" cy="640080"/>
          </a:xfrm>
          <a:prstGeom prst="rect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71600" y="242316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38BA8"/>
                </a:solidFill>
              </a:rPr>
              <a:t>紅色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42316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AC2D8"/>
                </a:solidFill>
              </a:rPr>
              <a:t>漏亮 (sim ON, dump OFF)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4231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韌體未點亮但應該要亮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83280"/>
            <a:ext cx="731520" cy="64008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371600" y="3429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9B4FA"/>
                </a:solidFill>
              </a:rPr>
              <a:t>藍色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42900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AC2D8"/>
                </a:solidFill>
              </a:rPr>
              <a:t>多亮 (sim OFF, dump 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34290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韌體多點亮，不應該亮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89120"/>
            <a:ext cx="731520" cy="640080"/>
          </a:xfrm>
          <a:prstGeom prst="rect">
            <a:avLst/>
          </a:prstGeom>
          <a:solidFill>
            <a:srgbClr val="BAC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371600" y="4434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AC2D8"/>
                </a:solidFill>
              </a:rPr>
              <a:t>黑色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443484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AC2D8"/>
                </a:solidFill>
              </a:rPr>
              <a:t>兩者皆滅 (Both OFF)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443484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正常熄滅，背景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4864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BAC2D8"/>
                </a:solidFill>
              </a:rPr>
              <a:t>輸出尺寸：1280×640（與輸入影像相同），含圖例文字說明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31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89B4FA"/>
                </a:solidFill>
              </a:rPr>
              <a:t>實際輸出截圖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AC2D8"/>
                </a:solidFill>
              </a:rPr>
              <a:t>Case 0  —  輸入影像 → 模擬結果 → 差異比對圖</a:t>
            </a:r>
          </a:p>
        </p:txBody>
      </p:sp>
      <p:pic>
        <p:nvPicPr>
          <p:cNvPr id="5" name="Picture 4" descr="inpu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365760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49834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9B4FA"/>
                </a:solidFill>
              </a:rPr>
              <a:t>① 輸入影像  (input/input_0.png)</a:t>
            </a:r>
          </a:p>
        </p:txBody>
      </p:sp>
      <p:pic>
        <p:nvPicPr>
          <p:cNvPr id="7" name="Picture 6" descr="inpu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1234440"/>
            <a:ext cx="3657600" cy="1828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251960" y="49834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6E3A1"/>
                </a:solidFill>
              </a:rPr>
              <a:t>② 模擬輸出  (sim_output/sim_0.png)</a:t>
            </a:r>
          </a:p>
        </p:txBody>
      </p:sp>
      <p:pic>
        <p:nvPicPr>
          <p:cNvPr id="9" name="Picture 8" descr="diff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234440"/>
            <a:ext cx="3657600" cy="1828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0" y="49834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9E2AF"/>
                </a:solidFill>
              </a:rPr>
              <a:t>③ 差異比對  (compare/diff_0.png)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54780" y="19202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dirty="0">
                <a:solidFill>
                  <a:srgbClr val="BAC2D8"/>
                </a:solidFill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0" y="19202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dirty="0">
                <a:solidFill>
                  <a:srgbClr val="BAC2D8"/>
                </a:solidFill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55778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AC2D8"/>
                </a:solidFill>
              </a:rPr>
              <a:t>灰階影像 → Max-Pooling 模擬 → 與硬體 Dump 逐 Block 比對，白=正確，紅=漏亮，藍=多亮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31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89B4FA"/>
                </a:solidFill>
              </a:rPr>
              <a:t>輸出報告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AC2D8"/>
                </a:solidFill>
              </a:rPr>
              <a:t>彙總統計範例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47120" cy="4389120"/>
          </a:xfrm>
          <a:prstGeom prst="rect">
            <a:avLst/>
          </a:prstGeom>
          <a:solidFill>
            <a:srgbClr val="12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6E3A1"/>
                </a:solidFill>
              </a:rPr>
              <a:t>========== 彙總統計 ==========
成功處理 case 數: 28 / 30
總 Block 誤差: 1579
總 Zone 錯誤: 115
--- Zone 錯誤分佈 ---
   zone    漏亮    多亮   Total
  ----------------------------------
       0       0      28      28
       1       0      28      28
       2       1       2       3
--- Top-5 Block 誤差最高 Case ---
Case  5 : 87 block diffs
Case 12 : 74 block diffs
Case  3 : 68 block diffs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31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89B4FA"/>
                </a:solidFill>
              </a:rPr>
              <a:t>打包與部署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AC2D8"/>
                </a:solidFill>
              </a:rPr>
              <a:t>Windows 執行檔 — 無需安裝 Python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5303520" cy="3200400"/>
          </a:xfrm>
          <a:prstGeom prst="rect">
            <a:avLst/>
          </a:prstGeom>
          <a:solidFill>
            <a:srgbClr val="282C42"/>
          </a:solidFill>
          <a:ln w="12700">
            <a:solidFill>
              <a:srgbClr val="89B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9B4FA"/>
                </a:solidFill>
              </a:rPr>
              <a:t>建置方式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49377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pip install pyinstaller
build.bat
→ 輸出：local_dimming_validator.exe
→ 位置：專案根目錄（~55 MB）
→ 模式：onefile（單一執行檔）
→ 每次執行解壓至 temp，完成後清除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280160"/>
            <a:ext cx="5486400" cy="3200400"/>
          </a:xfrm>
          <a:prstGeom prst="rect">
            <a:avLst/>
          </a:prstGeom>
          <a:solidFill>
            <a:srgbClr val="282C42"/>
          </a:solidFill>
          <a:ln w="12700">
            <a:solidFill>
              <a:srgbClr val="A6E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13716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A6E3A1"/>
                </a:solidFill>
              </a:rPr>
              <a:t>部署只需三樣東西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74519"/>
            <a:ext cx="51206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local_dimming_validator.exe
zone.txt
input/、dump/、LED/
執行方式：
local_dimming_validator.exe
  [data_dir] [-c COUNT]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091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9E2AF"/>
                </a:solidFill>
              </a:rPr>
              <a:t>GitHub Releases v1.7.0 — 可直接下載 .exe，無需建置環境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1520" y="9144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89B4FA"/>
                </a:solidFill>
              </a:rPr>
              <a:t>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965960"/>
            <a:ext cx="9418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✅  自動化比對：批次驗證 N 組測試資料，輸出完整統計報告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743200"/>
            <a:ext cx="9418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✅  雙層驗證：Block 層級差異 + Zone 層級漏亮 / 多亮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520439"/>
            <a:ext cx="9418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✅  相容性：支援新舊兩種 Dump 格式，影像尺寸自動驗證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297679"/>
            <a:ext cx="9418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✅  效能：NumPy 向量化，告別雙層迴圈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074920"/>
            <a:ext cx="9418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✅  易部署：單一 .exe，免安裝 Python，GitHub Releases 提供下載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870</Words>
  <Application>Microsoft Office PowerPoint</Application>
  <PresentationFormat>自訂</PresentationFormat>
  <Paragraphs>177</Paragraphs>
  <Slides>14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18" baseType="lpstr">
      <vt:lpstr>Arial</vt:lpstr>
      <vt:lpstr>Calibri</vt:lpstr>
      <vt:lpstr>Courier New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subject/>
  <dc:creator/>
  <cp:keywords/>
  <dc:description>generated using python-pptx</dc:description>
  <cp:lastModifiedBy>台灣_電六部 許宬華 erichsu</cp:lastModifiedBy>
  <cp:revision>2</cp:revision>
  <dcterms:created xsi:type="dcterms:W3CDTF">2013-01-27T09:14:16Z</dcterms:created>
  <dcterms:modified xsi:type="dcterms:W3CDTF">2026-05-04T07:56:57Z</dcterms:modified>
  <cp:category/>
</cp:coreProperties>
</file>